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image" Target="../media/image-2-1.png"/><Relationship Id="rId12" Type="http://schemas.openxmlformats.org/officeDocument/2006/relationships/image" Target="../media/image-2-2.svg"/><Relationship Id="rId13" Type="http://schemas.openxmlformats.org/officeDocument/2006/relationships/image" Target="../media/image-2-1.png"/><Relationship Id="rId14" Type="http://schemas.openxmlformats.org/officeDocument/2006/relationships/image" Target="../media/image-2-2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.png"/><Relationship Id="rId12" Type="http://schemas.openxmlformats.org/officeDocument/2006/relationships/image" Target="../media/image-8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1100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RASIKH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895872"/>
            <a:ext cx="10868745" cy="1355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AI-Powered Legal &amp; Governance Workflow Platform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356682" y="3475038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From legal request to grounded, reviewable, approved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3888085"/>
            <a:ext cx="10868745" cy="1788716"/>
          </a:xfrm>
          <a:prstGeom prst="roundRect">
            <a:avLst>
              <a:gd name="adj" fmla="val 1318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888085"/>
            <a:ext cx="5434373" cy="894358"/>
          </a:xfrm>
          <a:custGeom>
            <a:avLst/>
            <a:gdLst/>
            <a:ahLst/>
            <a:cxnLst/>
            <a:rect l="l" t="t" r="r" b="b"/>
            <a:pathLst>
              <a:path w="5434373" h="894358">
                <a:moveTo>
                  <a:pt x="19640" y="0"/>
                </a:moveTo>
                <a:lnTo>
                  <a:pt x="5434373" y="0"/>
                </a:lnTo>
                <a:lnTo>
                  <a:pt x="5434373" y="894358"/>
                </a:lnTo>
                <a:lnTo>
                  <a:pt x="0" y="894358"/>
                </a:lnTo>
                <a:lnTo>
                  <a:pt x="0" y="19641"/>
                </a:lnTo>
                <a:arcTo hR="19641" wR="19640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18534" y="4045148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Controlled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534" y="4380210"/>
            <a:ext cx="512025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Rules-enforced workflow, not open-ended chat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3888085"/>
            <a:ext cx="5434373" cy="894358"/>
          </a:xfrm>
          <a:custGeom>
            <a:avLst/>
            <a:gdLst/>
            <a:ahLst/>
            <a:cxnLst/>
            <a:rect l="l" t="t" r="r" b="b"/>
            <a:pathLst>
              <a:path w="5434373" h="894358">
                <a:moveTo>
                  <a:pt x="0" y="0"/>
                </a:moveTo>
                <a:lnTo>
                  <a:pt x="5414732" y="0"/>
                </a:lnTo>
                <a:arcTo hR="19641" wR="19640" stAng="16200000" swAng="5400000"/>
                <a:lnTo>
                  <a:pt x="5434373" y="894358"/>
                </a:lnTo>
                <a:lnTo>
                  <a:pt x="0" y="894358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3888085"/>
            <a:ext cx="19050" cy="894358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6252907" y="4045148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Grounded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52907" y="4380210"/>
            <a:ext cx="512025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outputs tied to evidence and citations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5" y="4782443"/>
            <a:ext cx="5434373" cy="894358"/>
          </a:xfrm>
          <a:custGeom>
            <a:avLst/>
            <a:gdLst/>
            <a:ahLst/>
            <a:cxnLst/>
            <a:rect l="l" t="t" r="r" b="b"/>
            <a:pathLst>
              <a:path w="5434373" h="894358">
                <a:moveTo>
                  <a:pt x="0" y="0"/>
                </a:moveTo>
                <a:lnTo>
                  <a:pt x="5434373" y="0"/>
                </a:lnTo>
                <a:lnTo>
                  <a:pt x="5434373" y="894358"/>
                </a:lnTo>
                <a:lnTo>
                  <a:pt x="19640" y="894358"/>
                </a:lnTo>
                <a:arcTo hR="19641" wR="19640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661475" y="4782443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818534" y="4939506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534" y="5274568"/>
            <a:ext cx="512025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action traceable and reviewable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48" y="4782443"/>
            <a:ext cx="5434373" cy="894358"/>
          </a:xfrm>
          <a:custGeom>
            <a:avLst/>
            <a:gdLst/>
            <a:ahLst/>
            <a:cxnLst/>
            <a:rect l="l" t="t" r="r" b="b"/>
            <a:pathLst>
              <a:path w="5434373" h="894358">
                <a:moveTo>
                  <a:pt x="0" y="0"/>
                </a:moveTo>
                <a:lnTo>
                  <a:pt x="5434373" y="0"/>
                </a:lnTo>
                <a:lnTo>
                  <a:pt x="5434373" y="874717"/>
                </a:lnTo>
                <a:arcTo hR="19641" wR="19640" stAng="0" swAng="5400000"/>
                <a:lnTo>
                  <a:pt x="0" y="894358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4782443"/>
            <a:ext cx="19050" cy="894358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4782443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6252907" y="4939506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Human-Approved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52907" y="5274568"/>
            <a:ext cx="512025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legal work leaves without human sign-off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421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Legal Workflow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917898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Legal operations face compounding structural challenges that generic AI tools cannot address.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96108"/>
            <a:ext cx="3560872" cy="1043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8994" y="2332831"/>
            <a:ext cx="323663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Unstructured Requests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8994" y="2582366"/>
            <a:ext cx="3236633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Legal requests arrive in natural language without clear intent, forcing manual triage and classification before any work can begin.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5312" y="2196108"/>
            <a:ext cx="3560971" cy="1043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02831" y="2332831"/>
            <a:ext cx="32367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02831" y="2582366"/>
            <a:ext cx="323673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Matter access must be strictly enforced before any document retrieval occurs. Premature exposure is a critical failure mode.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9249" y="2196108"/>
            <a:ext cx="3560872" cy="1043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6768" y="2332831"/>
            <a:ext cx="323663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Document Discovery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156768" y="2582366"/>
            <a:ext cx="3236633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Relevant contracts, clauses, and precedents must be systematically identified and retrieved from structured repositories.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332956"/>
            <a:ext cx="3560872" cy="1043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8994" y="3469680"/>
            <a:ext cx="323663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48994" y="3719215"/>
            <a:ext cx="3236633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answers must be connected to verifiable evidence. Fabricated or hallucinated legal analysis is a liability, not a feature.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5312" y="3332956"/>
            <a:ext cx="3560971" cy="1043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02831" y="3469680"/>
            <a:ext cx="32367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502831" y="3719215"/>
            <a:ext cx="323673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Sensitive or ambiguous cases require structured escalation to human judgment — not autonomous AI resolution.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9249" y="3332956"/>
            <a:ext cx="3560872" cy="1043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156768" y="3469680"/>
            <a:ext cx="323663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Approval Gates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8156768" y="3719215"/>
            <a:ext cx="3236633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AI-generated work cannot bypass human review. Approval authority must be role-scoped and enforced by the system.</a:t>
            </a:r>
            <a:endParaRPr lang="en-US" sz="9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469805"/>
            <a:ext cx="3560872" cy="1043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48994" y="4606528"/>
            <a:ext cx="323663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Auditability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848994" y="4856063"/>
            <a:ext cx="3236633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classification, retrieval, finding, and approval must be traceable, timestamped, and reviewable for compliance purposes.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4206"/>
            <a:ext cx="927871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673894"/>
            <a:ext cx="137870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CONCEPT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7759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Rasikh: A Controlled Legal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227" y="1449784"/>
            <a:ext cx="4120551" cy="4773910"/>
          </a:xfrm>
          <a:prstGeom prst="roundRect">
            <a:avLst>
              <a:gd name="adj" fmla="val 482"/>
            </a:avLst>
          </a:prstGeom>
          <a:solidFill>
            <a:srgbClr val="1A3A52"/>
          </a:solidFill>
          <a:ln/>
        </p:spPr>
      </p:sp>
      <p:sp>
        <p:nvSpPr>
          <p:cNvPr id="6" name="Text 4"/>
          <p:cNvSpPr/>
          <p:nvPr/>
        </p:nvSpPr>
        <p:spPr>
          <a:xfrm>
            <a:off x="698483" y="1555552"/>
            <a:ext cx="385604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Rasikh ≠ Chatbot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8483" y="1867991"/>
            <a:ext cx="38560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Rasikh is not a free-form conversational AI. It is a structured workflow engine with AI embedded at controlled stages.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8483" y="2401094"/>
            <a:ext cx="3856040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8483" y="2572246"/>
            <a:ext cx="385604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Rasikh = AI + Rules + Access Control + Human Oversight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8483" y="2884686"/>
            <a:ext cx="38560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response is produced through a sequence of enforced steps — classification, authorization, retrieval, analysis, drafting, and approval.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20532" y="1555552"/>
            <a:ext cx="66159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11-Stage 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20532" y="188128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20532" y="2086967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4920532" y="2191147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Request Intake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1383" y="1881287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81383" y="2086967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8281383" y="2191147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Classification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20532" y="260280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20532" y="2808486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0" name="Text 18"/>
          <p:cNvSpPr/>
          <p:nvPr/>
        </p:nvSpPr>
        <p:spPr>
          <a:xfrm>
            <a:off x="4920532" y="2912666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1383" y="260280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81383" y="2808486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3" name="Text 21"/>
          <p:cNvSpPr/>
          <p:nvPr/>
        </p:nvSpPr>
        <p:spPr>
          <a:xfrm>
            <a:off x="8281383" y="2912666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Matter / Organization Documents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20532" y="332432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20532" y="3530005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4920532" y="3634184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81383" y="332432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81383" y="3530005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9" name="Text 27"/>
          <p:cNvSpPr/>
          <p:nvPr/>
        </p:nvSpPr>
        <p:spPr>
          <a:xfrm>
            <a:off x="8281383" y="3634184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Findings &amp; Citations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20532" y="404584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20532" y="4251523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2" name="Text 30"/>
          <p:cNvSpPr/>
          <p:nvPr/>
        </p:nvSpPr>
        <p:spPr>
          <a:xfrm>
            <a:off x="4920532" y="4355703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Rule Evaluation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81383" y="404584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81383" y="4251523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5" name="Text 33"/>
          <p:cNvSpPr/>
          <p:nvPr/>
        </p:nvSpPr>
        <p:spPr>
          <a:xfrm>
            <a:off x="8281383" y="4355703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Drafting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20532" y="476736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20532" y="4973042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8" name="Text 36"/>
          <p:cNvSpPr/>
          <p:nvPr/>
        </p:nvSpPr>
        <p:spPr>
          <a:xfrm>
            <a:off x="4920532" y="5077222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81383" y="476736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10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81383" y="4973042"/>
            <a:ext cx="3255087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41" name="Text 39"/>
          <p:cNvSpPr/>
          <p:nvPr/>
        </p:nvSpPr>
        <p:spPr>
          <a:xfrm>
            <a:off x="8281383" y="5077222"/>
            <a:ext cx="32550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Approval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20532" y="5488880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11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20532" y="5694561"/>
            <a:ext cx="66159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44" name="Text 42"/>
          <p:cNvSpPr/>
          <p:nvPr/>
        </p:nvSpPr>
        <p:spPr>
          <a:xfrm>
            <a:off x="4920532" y="5798741"/>
            <a:ext cx="661593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Completed Output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9857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Architecture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598017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layered, secure architecture with clear separation of concerns across five distinct tiers.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940421"/>
            <a:ext cx="3543211" cy="1899047"/>
          </a:xfrm>
          <a:prstGeom prst="roundRect">
            <a:avLst>
              <a:gd name="adj" fmla="val 1110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01965" y="2080915"/>
            <a:ext cx="326223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1965" y="2372122"/>
            <a:ext cx="3262231" cy="4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 + TypeScript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Vite · TanStack 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4143" y="1940421"/>
            <a:ext cx="3543311" cy="1899047"/>
          </a:xfrm>
          <a:prstGeom prst="roundRect">
            <a:avLst>
              <a:gd name="adj" fmla="val 111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464633" y="2080915"/>
            <a:ext cx="326233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 / Backend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64633" y="2372122"/>
            <a:ext cx="3262330" cy="4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FastAPI · Pydantic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SQLAlchemy 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86910" y="1940421"/>
            <a:ext cx="3543311" cy="1899047"/>
          </a:xfrm>
          <a:prstGeom prst="roundRect">
            <a:avLst>
              <a:gd name="adj" fmla="val 1110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27400" y="2080915"/>
            <a:ext cx="326233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Services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27400" y="2372122"/>
            <a:ext cx="3262330" cy="13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 &amp; Authorization</a:t>
            </a:r>
            <a:endParaRPr lang="en-US" sz="1100" dirty="0"/>
          </a:p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Intake &amp; Classification</a:t>
            </a:r>
            <a:endParaRPr lang="en-US" sz="1100" dirty="0"/>
          </a:p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Analysis &amp; Rulebook</a:t>
            </a:r>
            <a:endParaRPr lang="en-US" sz="1100" dirty="0"/>
          </a:p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Drafting &amp; Approval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 &amp; History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1475" y="3958927"/>
            <a:ext cx="5374644" cy="1339652"/>
          </a:xfrm>
          <a:prstGeom prst="roundRect">
            <a:avLst>
              <a:gd name="adj" fmla="val 1574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801965" y="4099421"/>
            <a:ext cx="50936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1965" y="4390628"/>
            <a:ext cx="5093664" cy="4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· Contracts · Data Room · Requests · Findings · Drafts · Approvals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5576" y="3958927"/>
            <a:ext cx="5374644" cy="1339652"/>
          </a:xfrm>
          <a:prstGeom prst="roundRect">
            <a:avLst>
              <a:gd name="adj" fmla="val 1574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96066" y="4099421"/>
            <a:ext cx="50936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Layer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96066" y="4390628"/>
            <a:ext cx="5093664" cy="76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 Classification</a:t>
            </a:r>
            <a:endParaRPr lang="en-US" sz="1100" dirty="0"/>
          </a:p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 Analysis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Draft Generation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475" y="5432921"/>
            <a:ext cx="10868745" cy="505222"/>
          </a:xfrm>
          <a:prstGeom prst="roundRect">
            <a:avLst>
              <a:gd name="adj" fmla="val 4174"/>
            </a:avLst>
          </a:prstGeom>
          <a:solidFill>
            <a:srgbClr val="CCD7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65" y="5604272"/>
            <a:ext cx="175712" cy="14049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8167" y="5587504"/>
            <a:ext cx="10881147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tier has a defined responsibility boundary. The AI layer cannot bypass the authorization or data layers — it operates only on pre-authorized, retrieved content.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3451"/>
            <a:ext cx="10868745" cy="3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One Request, One Controlled Lifecycle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05681"/>
            <a:ext cx="11478330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request follows the same secure, auditable path — no exceptions, no shortcuts.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265138"/>
            <a:ext cx="10779153" cy="4648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1583" y="50319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 &amp; Complete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395594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Analyze &amp; Draft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28908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Access Check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181479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Intake &amp; Classify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61475" y="6009481"/>
            <a:ext cx="10868745" cy="385068"/>
          </a:xfrm>
          <a:prstGeom prst="roundRect">
            <a:avLst>
              <a:gd name="adj" fmla="val 4631"/>
            </a:avLst>
          </a:prstGeom>
          <a:solidFill>
            <a:srgbClr val="FFB3B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36" y="6128445"/>
            <a:ext cx="148527" cy="1188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47724" y="6124575"/>
            <a:ext cx="10973220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REFUSE_ACCESS is enforced at step 4 — protected content is never retrieved or exposed prior to authorization confirmation.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450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Understands Intent, Not Just Keywords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818184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Request type and workflow decision are determined by the system, not the user. The requester does not choose the internal decision — the AI intake system determines intent, and the workflow engine determines the outcome.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2362994"/>
            <a:ext cx="472448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Request Type / Intent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649736"/>
            <a:ext cx="533406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semantic category inferred from the user's natural-language submission.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2927945"/>
            <a:ext cx="2315708" cy="467221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8195" y="3064669"/>
            <a:ext cx="20422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Contract 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70148" y="2927945"/>
            <a:ext cx="2315807" cy="467221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6868" y="3064669"/>
            <a:ext cx="204236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Consultation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3488134"/>
            <a:ext cx="2315708" cy="467221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195" y="3624858"/>
            <a:ext cx="20422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Meeting Preparation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70148" y="3488134"/>
            <a:ext cx="2315807" cy="467221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6868" y="3624858"/>
            <a:ext cx="204236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Obligation 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94915" y="2362994"/>
            <a:ext cx="584155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Workflow Decision /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94915" y="2649736"/>
            <a:ext cx="64511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system-determined routing and response code assigned after classification and authorization.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94915" y="2927945"/>
            <a:ext cx="2874295" cy="441821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5818935" y="3051969"/>
            <a:ext cx="26262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REVIEW_CONTRACT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62175" y="2927945"/>
            <a:ext cx="2874295" cy="441821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8786196" y="3051969"/>
            <a:ext cx="26262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ANSWER_CONSULTATION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94915" y="3462734"/>
            <a:ext cx="2874295" cy="441821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818935" y="3586758"/>
            <a:ext cx="26262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PREP_MEETING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62175" y="3462734"/>
            <a:ext cx="2874295" cy="441821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8786196" y="3586758"/>
            <a:ext cx="26262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FLAG_OBLIGATION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94915" y="3997523"/>
            <a:ext cx="2874295" cy="441821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5818935" y="4121547"/>
            <a:ext cx="26262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ESCALATE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62175" y="3997523"/>
            <a:ext cx="2874295" cy="441821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8786196" y="4121547"/>
            <a:ext cx="26262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REQUEST_INFO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94915" y="4532313"/>
            <a:ext cx="2874295" cy="441821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5818935" y="4656336"/>
            <a:ext cx="26262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NOT_IN_DOCUMENTS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62175" y="4532313"/>
            <a:ext cx="2874295" cy="441821"/>
          </a:xfrm>
          <a:prstGeom prst="roundRect">
            <a:avLst>
              <a:gd name="adj" fmla="val 4211"/>
            </a:avLst>
          </a:prstGeom>
          <a:solidFill>
            <a:srgbClr val="D32F2F"/>
          </a:solidFill>
          <a:ln/>
        </p:spPr>
      </p:sp>
      <p:sp>
        <p:nvSpPr>
          <p:cNvPr id="31" name="Text 29"/>
          <p:cNvSpPr/>
          <p:nvPr/>
        </p:nvSpPr>
        <p:spPr>
          <a:xfrm>
            <a:off x="8786196" y="4656336"/>
            <a:ext cx="26262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REFUSE_ACCESS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94915" y="5067102"/>
            <a:ext cx="5841556" cy="441821"/>
          </a:xfrm>
          <a:prstGeom prst="roundRect">
            <a:avLst>
              <a:gd name="adj" fmla="val 4211"/>
            </a:avLst>
          </a:prstGeom>
          <a:solidFill>
            <a:srgbClr val="D32F2F"/>
          </a:solidFill>
          <a:ln/>
        </p:spPr>
      </p:sp>
      <p:sp>
        <p:nvSpPr>
          <p:cNvPr id="33" name="Text 31"/>
          <p:cNvSpPr/>
          <p:nvPr/>
        </p:nvSpPr>
        <p:spPr>
          <a:xfrm>
            <a:off x="5818935" y="5191125"/>
            <a:ext cx="55935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REFUSE_OVERRIDE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924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Authorization Is Matter-Scoped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054324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Access is controlled by role and matter assignment — not global permissions.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MatterAssignment is the authoritative relationship for matter-scoped access. Matter Access ≠ Approval Authority.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2554387"/>
            <a:ext cx="10868745" cy="1689100"/>
          </a:xfrm>
          <a:prstGeom prst="roundRect">
            <a:avLst>
              <a:gd name="adj" fmla="val 117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894112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230662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67212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903762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8122" y="2560737"/>
            <a:ext cx="2388235" cy="333375"/>
          </a:xfrm>
          <a:custGeom>
            <a:avLst/>
            <a:gdLst/>
            <a:ahLst/>
            <a:cxnLst/>
            <a:rect l="l" t="t" r="r" b="b"/>
            <a:pathLst>
              <a:path w="2388235" h="333375">
                <a:moveTo>
                  <a:pt x="16539" y="0"/>
                </a:moveTo>
                <a:lnTo>
                  <a:pt x="2388235" y="0"/>
                </a:lnTo>
                <a:lnTo>
                  <a:pt x="2388235" y="333375"/>
                </a:lnTo>
                <a:lnTo>
                  <a:pt x="0" y="333375"/>
                </a:lnTo>
                <a:lnTo>
                  <a:pt x="0" y="16540"/>
                </a:lnTo>
                <a:arcTo hR="16540" wR="16539" stAng="10800000" swAng="5400000"/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0" name="Text 8"/>
          <p:cNvSpPr/>
          <p:nvPr/>
        </p:nvSpPr>
        <p:spPr>
          <a:xfrm>
            <a:off x="800378" y="263058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56357" y="2560737"/>
            <a:ext cx="2822504" cy="333375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2" name="Text 10"/>
          <p:cNvSpPr/>
          <p:nvPr/>
        </p:nvSpPr>
        <p:spPr>
          <a:xfrm>
            <a:off x="3188612" y="2630587"/>
            <a:ext cx="31675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Matter 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78862" y="2560737"/>
            <a:ext cx="2388235" cy="333375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4" name="Text 12"/>
          <p:cNvSpPr/>
          <p:nvPr/>
        </p:nvSpPr>
        <p:spPr>
          <a:xfrm>
            <a:off x="6011117" y="263058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67096" y="2560737"/>
            <a:ext cx="3256774" cy="333375"/>
          </a:xfrm>
          <a:custGeom>
            <a:avLst/>
            <a:gdLst/>
            <a:ahLst/>
            <a:cxnLst/>
            <a:rect l="l" t="t" r="r" b="b"/>
            <a:pathLst>
              <a:path w="3256774" h="333375">
                <a:moveTo>
                  <a:pt x="0" y="0"/>
                </a:moveTo>
                <a:lnTo>
                  <a:pt x="3240235" y="0"/>
                </a:lnTo>
                <a:arcTo hR="16540" wR="16539" stAng="16200000" swAng="5400000"/>
                <a:lnTo>
                  <a:pt x="3256774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6" name="Text 14"/>
          <p:cNvSpPr/>
          <p:nvPr/>
        </p:nvSpPr>
        <p:spPr>
          <a:xfrm>
            <a:off x="8399352" y="2630587"/>
            <a:ext cx="36018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Approve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378" y="296713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Partner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88612" y="2967137"/>
            <a:ext cx="31675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Firm-wide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11117" y="296713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99352" y="2967137"/>
            <a:ext cx="36018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 </a:t>
            </a:r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(subject to can_approve)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0378" y="330368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Senior Associate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88612" y="3303687"/>
            <a:ext cx="31675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Assigned matters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11117" y="330368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99352" y="3303687"/>
            <a:ext cx="36018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 </a:t>
            </a:r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(subject to can_approve)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378" y="364023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Associate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88612" y="3640237"/>
            <a:ext cx="31675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Assigned matters only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11117" y="364023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9352" y="3640237"/>
            <a:ext cx="36018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378" y="397678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Paralegal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88612" y="3976787"/>
            <a:ext cx="31675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Assigned matters only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11117" y="3976787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99352" y="3976787"/>
            <a:ext cx="36018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1475" y="4481612"/>
            <a:ext cx="5273047" cy="828080"/>
          </a:xfrm>
          <a:prstGeom prst="roundRect">
            <a:avLst>
              <a:gd name="adj" fmla="val 2397"/>
            </a:avLst>
          </a:prstGeom>
          <a:solidFill>
            <a:srgbClr val="CCD7FF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4637980"/>
            <a:ext cx="165294" cy="132259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91280" y="4609902"/>
            <a:ext cx="471098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can_approve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 a distinct flag — it is not synonymous with role. A Senior Associate may hold the role without can_approve = true, and approval will be denied accordingly.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63523" y="4481612"/>
            <a:ext cx="5273047" cy="637580"/>
          </a:xfrm>
          <a:prstGeom prst="roundRect">
            <a:avLst>
              <a:gd name="adj" fmla="val 3113"/>
            </a:avLst>
          </a:prstGeom>
          <a:solidFill>
            <a:srgbClr val="B6D6FC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778" y="4637980"/>
            <a:ext cx="165294" cy="132259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693328" y="4609902"/>
            <a:ext cx="47109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Separation of duties is enforced at the database level: the user who created a draft cannot be the approving user, regardless of role or can_approve status.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9571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 Happens Before Document Access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2013347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Authorization is enforced by the backend, not merely hidden in the frontend. Protected content is never retrieved until all checks pass.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2342852"/>
            <a:ext cx="507015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Authorization Decision Tree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2614811"/>
            <a:ext cx="260443" cy="26044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704832" y="2636490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2878" y="2654598"/>
            <a:ext cx="47287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Authenticated User?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2878" y="2916436"/>
            <a:ext cx="47287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 session and identity confirmed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1475" y="3235920"/>
            <a:ext cx="260443" cy="26044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04832" y="3257600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2878" y="3275707"/>
            <a:ext cx="47287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Valid TeamMember?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2878" y="3537545"/>
            <a:ext cx="47287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belongs to an active team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1475" y="3857030"/>
            <a:ext cx="260443" cy="26044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04832" y="3878709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2878" y="3896816"/>
            <a:ext cx="47287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Organization Exists?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2878" y="4158655"/>
            <a:ext cx="472874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Requested organization is registered and active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475" y="4478139"/>
            <a:ext cx="260443" cy="26044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04832" y="4499818"/>
            <a:ext cx="173628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2878" y="4517926"/>
            <a:ext cx="472874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MatterAssignment / Authorized Scope?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2878" y="4779764"/>
            <a:ext cx="47287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D32F2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 →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REFUSE_ACCESS — no protected content exposed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YES →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Retrieve Matter Data → Analyze Documents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20344" y="2342852"/>
            <a:ext cx="551612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Authorization Scope Dimensions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0344" y="2614811"/>
            <a:ext cx="2717534" cy="83353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99528" y="2743200"/>
            <a:ext cx="240996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Request Detail Authorization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99528" y="3005038"/>
            <a:ext cx="240996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 this user view this request's metadata and classification?</a:t>
            </a:r>
            <a:endParaRPr lang="en-US" sz="9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8838" y="2614811"/>
            <a:ext cx="2717633" cy="83353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998023" y="2743200"/>
            <a:ext cx="241006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 Authorization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998023" y="3005038"/>
            <a:ext cx="241006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 this user access the findings and analysis?</a:t>
            </a:r>
            <a:endParaRPr lang="en-US" sz="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0344" y="3529310"/>
            <a:ext cx="2717534" cy="83353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199528" y="3657699"/>
            <a:ext cx="240996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Document Authorization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199528" y="3919538"/>
            <a:ext cx="240996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 the user assigned to the matter housing these documents?</a:t>
            </a:r>
            <a:endParaRPr lang="en-US" sz="9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18838" y="3529310"/>
            <a:ext cx="2717633" cy="83353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998023" y="3657699"/>
            <a:ext cx="241006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Draft Visibility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8998023" y="3919538"/>
            <a:ext cx="241006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 the draft scoped to authorized reviewers only?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0344" y="4443809"/>
            <a:ext cx="2717534" cy="83353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199528" y="4572198"/>
            <a:ext cx="240996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Approval Authorization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199528" y="4834037"/>
            <a:ext cx="240996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Does can_approve = true and separation of duties hold?</a:t>
            </a:r>
            <a:endParaRPr lang="en-US" sz="9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18838" y="4443809"/>
            <a:ext cx="2717633" cy="83353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98023" y="4572198"/>
            <a:ext cx="241006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Audit / History Scoping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8998023" y="4834037"/>
            <a:ext cx="241006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 logs are scoped to matter access, not global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3083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Outputs Are Grounded in Evidence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376859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Rasikh connects every finding to available evidence. No fabricated answers — and when evidence is unavailable, the system says so explicitly.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706364"/>
            <a:ext cx="417799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Grounding Pipeline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125" y="1978323"/>
            <a:ext cx="2924598" cy="2321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3791" y="3008539"/>
            <a:ext cx="525564" cy="240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Grounding Pipeline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000809" y="2215566"/>
            <a:ext cx="781871" cy="12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Documents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000809" y="2369928"/>
            <a:ext cx="781871" cy="16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 materials and records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1697580" y="2256427"/>
            <a:ext cx="781871" cy="12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Findings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697580" y="2410788"/>
            <a:ext cx="781871" cy="8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Verified conclusions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697580" y="3741023"/>
            <a:ext cx="781871" cy="12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Obligations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697580" y="3895385"/>
            <a:ext cx="781871" cy="16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Duties and responsibilities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000809" y="3781883"/>
            <a:ext cx="781871" cy="12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Rulebook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000809" y="3936245"/>
            <a:ext cx="781871" cy="8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Policies and standards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282819" y="2967612"/>
            <a:ext cx="798962" cy="12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Contracts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282819" y="3121974"/>
            <a:ext cx="798962" cy="16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Agreements and clauses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411297" y="3012746"/>
            <a:ext cx="798962" cy="120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Analysis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411297" y="3167107"/>
            <a:ext cx="798962" cy="8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Evidence-based review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128191" y="1706364"/>
            <a:ext cx="640828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Example Grounded Finding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8191" y="1978323"/>
            <a:ext cx="6408280" cy="67607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7376" y="2106712"/>
            <a:ext cx="610070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Finding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307376" y="2368550"/>
            <a:ext cx="610070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Client can terminate under Section 7.2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8191" y="2735362"/>
            <a:ext cx="6408280" cy="67607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7376" y="2863751"/>
            <a:ext cx="610070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Citation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307376" y="3125589"/>
            <a:ext cx="610070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Contract C-01, Clause 7.2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8191" y="3492401"/>
            <a:ext cx="6408280" cy="67607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7376" y="3620790"/>
            <a:ext cx="610070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Rulebook Reference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307376" y="3882628"/>
            <a:ext cx="610070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 Clause 6.1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128191" y="4259560"/>
            <a:ext cx="640828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When Evidence Is Unavailable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128191" y="4531519"/>
            <a:ext cx="3163610" cy="650677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31" name="Text 25"/>
          <p:cNvSpPr/>
          <p:nvPr/>
        </p:nvSpPr>
        <p:spPr>
          <a:xfrm>
            <a:off x="5243877" y="4647208"/>
            <a:ext cx="293223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NOT_IN_DOCUMENTS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243877" y="4909046"/>
            <a:ext cx="293223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supporting evidence found in available materials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8372762" y="4531519"/>
            <a:ext cx="3163709" cy="650677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34" name="Text 28"/>
          <p:cNvSpPr/>
          <p:nvPr/>
        </p:nvSpPr>
        <p:spPr>
          <a:xfrm>
            <a:off x="8488448" y="4647208"/>
            <a:ext cx="293233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8488448" y="4909046"/>
            <a:ext cx="293233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Policy requires human judgment — not resolvable by AI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128191" y="5263158"/>
            <a:ext cx="6408280" cy="650677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37" name="Text 31"/>
          <p:cNvSpPr/>
          <p:nvPr/>
        </p:nvSpPr>
        <p:spPr>
          <a:xfrm>
            <a:off x="5243877" y="5378847"/>
            <a:ext cx="617690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REQUEST_INFO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243877" y="5640685"/>
            <a:ext cx="617690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Additional information is needed before analysis can proceed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218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Assists. Humans Decide.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897261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Separation of duties ensures human control over all legal work.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Rasikh does not allow AI to autonomously send legal work externally. Every output requires human approval.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227" y="2206823"/>
            <a:ext cx="4903962" cy="3378994"/>
          </a:xfrm>
          <a:prstGeom prst="roundRect">
            <a:avLst>
              <a:gd name="adj" fmla="val 587"/>
            </a:avLst>
          </a:prstGeom>
          <a:solidFill>
            <a:srgbClr val="1A3A52"/>
          </a:solidFill>
          <a:ln/>
        </p:spPr>
      </p:sp>
      <p:sp>
        <p:nvSpPr>
          <p:cNvPr id="5" name="Text 3"/>
          <p:cNvSpPr/>
          <p:nvPr/>
        </p:nvSpPr>
        <p:spPr>
          <a:xfrm>
            <a:off x="698483" y="2312591"/>
            <a:ext cx="46394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Approval Lifecycle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483" y="2638326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8483" y="2844006"/>
            <a:ext cx="4639452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698483" y="2948186"/>
            <a:ext cx="46394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Draft Generated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8483" y="335984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8483" y="3565525"/>
            <a:ext cx="4639452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698483" y="3669705"/>
            <a:ext cx="46394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483" y="408136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8483" y="4287044"/>
            <a:ext cx="4639452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698483" y="4391223"/>
            <a:ext cx="46394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Approval Gate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8483" y="480288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483" y="5008563"/>
            <a:ext cx="4639452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5"/>
          <p:cNvSpPr/>
          <p:nvPr/>
        </p:nvSpPr>
        <p:spPr>
          <a:xfrm>
            <a:off x="698483" y="5112742"/>
            <a:ext cx="46394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Approved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03943" y="2312591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Approval Requirements — All Must Be Met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03943" y="2638326"/>
            <a:ext cx="297649" cy="2976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107357" y="2683768"/>
            <a:ext cx="542911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Matter Access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07357" y="2996208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Approver must hold a valid MatterAssignment for the relevant matter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03943" y="3398341"/>
            <a:ext cx="297649" cy="2976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6107357" y="3443784"/>
            <a:ext cx="542911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can_approve = true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07357" y="3756223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approver's TeamMember record must carry explicit approval authority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03943" y="4158357"/>
            <a:ext cx="297649" cy="2976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6107357" y="4203799"/>
            <a:ext cx="542911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Workflow Conditions Met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07357" y="4516239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prerequisite workflow stages must be completed before approval is available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03943" y="4918373"/>
            <a:ext cx="297649" cy="2976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6107357" y="4963815"/>
            <a:ext cx="542911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Separation of Duties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07357" y="5276255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Draft Creator ≠ Approver — enforced at the database level, not by convention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7878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Representative Workflow Outcomes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2011561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Illustrative cases demonstrating the full range of workflow decisions Rasikh produces — from grounded contract review to security refusal.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2289770"/>
            <a:ext cx="10868745" cy="2439988"/>
          </a:xfrm>
          <a:prstGeom prst="roundRect">
            <a:avLst>
              <a:gd name="adj" fmla="val 76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597150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901355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205559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509764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813969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118173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422378"/>
            <a:ext cx="10868745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8023" y="2296120"/>
            <a:ext cx="1736880" cy="301030"/>
          </a:xfrm>
          <a:custGeom>
            <a:avLst/>
            <a:gdLst/>
            <a:ahLst/>
            <a:cxnLst/>
            <a:rect l="l" t="t" r="r" b="b"/>
            <a:pathLst>
              <a:path w="1736880" h="301030">
                <a:moveTo>
                  <a:pt x="15505" y="0"/>
                </a:moveTo>
                <a:lnTo>
                  <a:pt x="1736880" y="0"/>
                </a:lnTo>
                <a:lnTo>
                  <a:pt x="1736880" y="301030"/>
                </a:lnTo>
                <a:lnTo>
                  <a:pt x="0" y="301030"/>
                </a:lnTo>
                <a:lnTo>
                  <a:pt x="0" y="15506"/>
                </a:lnTo>
                <a:arcTo hR="15506" wR="15505" stAng="10800000" swAng="5400000"/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3" name="Text 11"/>
          <p:cNvSpPr/>
          <p:nvPr/>
        </p:nvSpPr>
        <p:spPr>
          <a:xfrm>
            <a:off x="792043" y="2358231"/>
            <a:ext cx="209842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Case 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04903" y="2296120"/>
            <a:ext cx="3256774" cy="30103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5" name="Text 13"/>
          <p:cNvSpPr/>
          <p:nvPr/>
        </p:nvSpPr>
        <p:spPr>
          <a:xfrm>
            <a:off x="2528923" y="2358231"/>
            <a:ext cx="361831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Outcome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1677" y="2296120"/>
            <a:ext cx="5862193" cy="301030"/>
          </a:xfrm>
          <a:custGeom>
            <a:avLst/>
            <a:gdLst/>
            <a:ahLst/>
            <a:cxnLst/>
            <a:rect l="l" t="t" r="r" b="b"/>
            <a:pathLst>
              <a:path w="5862193" h="301030">
                <a:moveTo>
                  <a:pt x="0" y="0"/>
                </a:moveTo>
                <a:lnTo>
                  <a:pt x="5846688" y="0"/>
                </a:lnTo>
                <a:arcTo hR="15506" wR="15505" stAng="16200000" swAng="5400000"/>
                <a:lnTo>
                  <a:pt x="5862193" y="301030"/>
                </a:lnTo>
                <a:lnTo>
                  <a:pt x="0" y="301030"/>
                </a:lnTo>
                <a:lnTo>
                  <a:pt x="0" y="0"/>
                </a:ln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7" name="Text 15"/>
          <p:cNvSpPr/>
          <p:nvPr/>
        </p:nvSpPr>
        <p:spPr>
          <a:xfrm>
            <a:off x="5785697" y="2358231"/>
            <a:ext cx="622373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Meaning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2043" y="2662436"/>
            <a:ext cx="209842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L-C-001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28923" y="2662436"/>
            <a:ext cx="361831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REVIEW_CONTRACT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85697" y="2662436"/>
            <a:ext cx="622373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Grounded contract review completed with citations to matter documents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2043" y="2966641"/>
            <a:ext cx="209842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L-C-013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28923" y="2966641"/>
            <a:ext cx="361831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PREP_MEETING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85697" y="2966641"/>
            <a:ext cx="622373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Meeting preparation output generated and routed for human approval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2043" y="3270845"/>
            <a:ext cx="209842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L-C-017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28923" y="3270845"/>
            <a:ext cx="361831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1A3A5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ESCALATE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85697" y="3270845"/>
            <a:ext cx="622373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complexity or sensitivity triggered escalation to senior counsel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2043" y="3575050"/>
            <a:ext cx="209842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L-C-021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28923" y="3575050"/>
            <a:ext cx="361831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1A3A5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REQUEST_INFO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85697" y="3575050"/>
            <a:ext cx="622373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Insufficient information in submission — additional input required before analysis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2043" y="3879255"/>
            <a:ext cx="209842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L-C-023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28923" y="3879255"/>
            <a:ext cx="361831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1A3A5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NOT_IN_DOCUMENTS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85697" y="3879255"/>
            <a:ext cx="622373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supporting evidence found in available matter documents — no fabricated answer produced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2043" y="4183459"/>
            <a:ext cx="209842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L-C-024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28923" y="4183459"/>
            <a:ext cx="361831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REFUSE_ACCESS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85697" y="4183459"/>
            <a:ext cx="622373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Requestor lacked MatterAssignment — protected content never retrieved or exposed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2043" y="4487664"/>
            <a:ext cx="209842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L-C-026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28923" y="4487664"/>
            <a:ext cx="361831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REFUSE_OVERRIDE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85697" y="4487664"/>
            <a:ext cx="622373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Attempt to override security controls was detected and rejected by the backend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1475" y="4834334"/>
            <a:ext cx="10868745" cy="585787"/>
          </a:xfrm>
          <a:prstGeom prst="roundRect">
            <a:avLst>
              <a:gd name="adj" fmla="val 3176"/>
            </a:avLst>
          </a:prstGeom>
          <a:solidFill>
            <a:srgbClr val="CCD7FF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" y="4970363"/>
            <a:ext cx="154976" cy="124023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064491" y="4958259"/>
            <a:ext cx="10341708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IDs are illustrative. In production, actual case data, timestamps, and audit logs replace these representative entries. All outcomes shown are produced by the system — not selected by the requester.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2026-08-26T12:01:46Z</dcterms:created>
  <dcterms:modified xsi:type="dcterms:W3CDTF">2026-08-26T12:01:46Z</dcterms:modified>
</cp:coreProperties>
</file>